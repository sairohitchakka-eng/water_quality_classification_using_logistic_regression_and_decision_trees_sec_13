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43" d="100"/>
          <a:sy n="43" d="100"/>
        </p:scale>
        <p:origin x="732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D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9144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WATER QUALITY CLASSIFICATION</a:t>
            </a:r>
          </a:p>
          <a:p>
            <a:pPr>
              <a:defRPr sz="2600" b="1">
                <a:solidFill>
                  <a:srgbClr val="AFEBE6"/>
                </a:solidFill>
                <a:latin typeface="Aptos Display"/>
              </a:defRPr>
            </a:pPr>
            <a:r>
              <a:t>USING LOGISTIC REGRESSION AND DECISION TREES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80360"/>
            <a:ext cx="57607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Surendra – 2520090142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Sathwik – 2520080041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Sai Rohit – 2520090091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Aptos"/>
              </a:defRPr>
            </a:pPr>
            <a:endParaRPr/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Aptos"/>
              </a:defRPr>
            </a:pPr>
            <a:r>
              <a:t>Department: CS – IT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Aptos"/>
              </a:defRPr>
            </a:pPr>
            <a:r>
              <a:t>KLH Bachupally Campus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Aptos"/>
              </a:defRPr>
            </a:pPr>
            <a:r>
              <a:t>Academic Year: 2025 – 2029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Aptos"/>
              </a:defRPr>
            </a:pPr>
            <a:r>
              <a:t>Guided By: Dr. Sai Lakshmi Haritha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2743200"/>
            <a:ext cx="3840480" cy="21031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0" y="2743200"/>
            <a:ext cx="73152" cy="210312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16368" y="2907792"/>
            <a:ext cx="347472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02D46"/>
                </a:solidFill>
                <a:latin typeface="Aptos"/>
              </a:defRPr>
            </a:pPr>
            <a:r>
              <a:t>ML Classification</a:t>
            </a:r>
          </a:p>
          <a:p>
            <a:pPr>
              <a:spcBef>
                <a:spcPts val="700"/>
              </a:spcBef>
              <a:defRPr sz="1500">
                <a:solidFill>
                  <a:srgbClr val="232D37"/>
                </a:solidFill>
                <a:latin typeface="Aptos"/>
              </a:defRPr>
            </a:pPr>
            <a:r>
              <a:t>Classify water quality from measured water parameters using supervised learning.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Water quality assessment is important for safe drinking water, environmental protection, agriculture, and public health.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Traditional testing can require laboratory analysis and expert interpretation, which may be time-consuming.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This project develops a website that uses machine-learning classification to estimate water quality from input parameters.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Two supervised learning approaches are used: Logistic Regression and Decision Tree classification.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The system presents the predicted class through a simple web interface.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474720" cy="150876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73152" cy="150876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399032"/>
            <a:ext cx="31089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Existing Problem</a:t>
            </a:r>
          </a:p>
          <a:p>
            <a:pPr>
              <a:spcBef>
                <a:spcPts val="7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Water quality depends on multiple chemical and physical parameters, making manual interpretation difficult for non-experts.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34440"/>
            <a:ext cx="3474720" cy="150876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89120" y="1234440"/>
            <a:ext cx="73152" cy="150876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0288" y="1399032"/>
            <a:ext cx="31089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Challenges</a:t>
            </a:r>
          </a:p>
          <a:p>
            <a:pPr>
              <a:spcBef>
                <a:spcPts val="7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Large or repeated measurements can be difficult to analyze quickly and consistently.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34440"/>
            <a:ext cx="3474720" cy="150876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234440"/>
            <a:ext cx="73152" cy="150876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7888" y="1399032"/>
            <a:ext cx="31089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Affected Users</a:t>
            </a:r>
          </a:p>
          <a:p>
            <a:pPr>
              <a:spcBef>
                <a:spcPts val="7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Students, researchers, environmental teams, water-management organizations, and communities.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004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• Need for a simple interface for entering water-quality parameters.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• Need to compare interpretable classification models.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• Need to provide a quick, consistent prediction instead of relying only on manual interpretation.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To apply machine learning to a practical environmental problem.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To make water-quality classification easier to understand and demonstrate through a website.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To compare Logistic Regression, a simple probabilistic linear classifier, with a Decision Tree, a rule-based model.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To build a foundation that can later support larger datasets, dashboards, and real-time sensor inputs.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34440"/>
            <a:ext cx="5120640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73152" cy="114300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1399032"/>
            <a:ext cx="4754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D46"/>
                </a:solidFill>
                <a:latin typeface="Aptos"/>
              </a:defRPr>
            </a:pPr>
            <a:r>
              <a:t>01  Collect &amp; Prepare Data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Load water-quality records and clean/prepare relevant features for classification.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120640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73152" cy="114300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4807" y="1399032"/>
            <a:ext cx="4754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D46"/>
                </a:solidFill>
                <a:latin typeface="Aptos"/>
              </a:defRPr>
            </a:pPr>
            <a:r>
              <a:t>02  Train Models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Train Logistic Regression and Decision Tree classifiers.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120640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2651760"/>
            <a:ext cx="73152" cy="114300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24128" y="2816352"/>
            <a:ext cx="4754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D46"/>
                </a:solidFill>
                <a:latin typeface="Aptos"/>
              </a:defRPr>
            </a:pPr>
            <a:r>
              <a:t>03  Evaluate Performance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Measure model performance using suitable classification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651760"/>
            <a:ext cx="5120640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2651760"/>
            <a:ext cx="73152" cy="1143000"/>
          </a:xfrm>
          <a:prstGeom prst="rect">
            <a:avLst/>
          </a:prstGeom>
          <a:solidFill>
            <a:srgbClr val="E19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64807" y="2816352"/>
            <a:ext cx="4754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D46"/>
                </a:solidFill>
                <a:latin typeface="Aptos"/>
              </a:defRPr>
            </a:pPr>
            <a:r>
              <a:t>04  Build Website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Provide an easy interface for entering values and viewing predictions.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4069080"/>
            <a:ext cx="5120640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66160" y="4069080"/>
            <a:ext cx="73152" cy="114300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67328" y="4233672"/>
            <a:ext cx="47548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D46"/>
                </a:solidFill>
                <a:latin typeface="Aptos"/>
              </a:defRPr>
            </a:pPr>
            <a:r>
              <a:t>05  Compare &amp; Improve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Compare models and identify the better-performing approach for the selected dataset.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Existing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Manual or laboratory-based water-quality assessment.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Rule-based interpretation of individual parameters.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Separate tools may be used for data analysis and visualization.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Users may need technical knowledge to interpret measurements.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Limitations: slower analysis, limited automation, and difficulty comparing multiple classification approaches.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20240"/>
            <a:ext cx="2062886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97144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User 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75534" y="217627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821838" y="1920240"/>
            <a:ext cx="2062886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67558" y="2103120"/>
            <a:ext cx="197144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Preprocessing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03012" y="217627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049316" y="1920240"/>
            <a:ext cx="2062886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95036" y="2103120"/>
            <a:ext cx="197144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ML Models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0491" y="217627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276795" y="1920240"/>
            <a:ext cx="2062886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22515" y="2103120"/>
            <a:ext cx="197144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Prediction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57969" y="217627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04273" y="1920240"/>
            <a:ext cx="2062886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49993" y="2103120"/>
            <a:ext cx="197144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Web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383280"/>
            <a:ext cx="10241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• The website accepts water-quality parameters from the user.</a:t>
            </a:r>
          </a:p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• Input data is processed using the same preprocessing steps used during model training.</a:t>
            </a:r>
          </a:p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• Both Logistic Regression and Decision Tree models can classify the water-quality category.</a:t>
            </a:r>
          </a:p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• The website displays the predicted class and can be extended to show model comparison and confidence.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System Architecture / Block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2011680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73152" cy="114300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581912"/>
            <a:ext cx="1645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Input Layer</a:t>
            </a:r>
          </a:p>
          <a:p>
            <a:pPr>
              <a:spcBef>
                <a:spcPts val="7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Water parameters entered through website.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417320"/>
            <a:ext cx="2011680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34640" y="1417320"/>
            <a:ext cx="73152" cy="114300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35808" y="1581912"/>
            <a:ext cx="1645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Preprocessing</a:t>
            </a:r>
          </a:p>
          <a:p>
            <a:pPr>
              <a:spcBef>
                <a:spcPts val="7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Cleaning, scaling/encoding as required.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4920" y="1417320"/>
            <a:ext cx="2011680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74920" y="1417320"/>
            <a:ext cx="73152" cy="114300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76088" y="1581912"/>
            <a:ext cx="1645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ML Layer</a:t>
            </a:r>
          </a:p>
          <a:p>
            <a:pPr>
              <a:spcBef>
                <a:spcPts val="7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Logistic Regression + Decision Tree.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417320"/>
            <a:ext cx="2011680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0" y="1417320"/>
            <a:ext cx="73152" cy="1143000"/>
          </a:xfrm>
          <a:prstGeom prst="rect">
            <a:avLst/>
          </a:prstGeom>
          <a:solidFill>
            <a:srgbClr val="E19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16368" y="1581912"/>
            <a:ext cx="1645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Decision</a:t>
            </a:r>
          </a:p>
          <a:p>
            <a:pPr>
              <a:spcBef>
                <a:spcPts val="7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Predicted quality class.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55480" y="1417320"/>
            <a:ext cx="2011680" cy="114300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555480" y="1417320"/>
            <a:ext cx="73152" cy="114300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56648" y="1581912"/>
            <a:ext cx="1645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Output</a:t>
            </a:r>
          </a:p>
          <a:p>
            <a:pPr>
              <a:spcBef>
                <a:spcPts val="7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Result shown on website.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383280"/>
            <a:ext cx="2062886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566160"/>
            <a:ext cx="197144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Water Parameters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675534" y="363931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821838" y="3383280"/>
            <a:ext cx="2062886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67558" y="3566160"/>
            <a:ext cx="197144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Preprocessing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903012" y="363931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049316" y="3383280"/>
            <a:ext cx="2062886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95036" y="3566160"/>
            <a:ext cx="197144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LR Model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130491" y="363931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276795" y="3383280"/>
            <a:ext cx="2062886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22515" y="3566160"/>
            <a:ext cx="197144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DT Model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357969" y="363931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504273" y="3383280"/>
            <a:ext cx="2062886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549993" y="3566160"/>
            <a:ext cx="197144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Classification 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75488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Training phase: dataset → preprocessing → model training → evaluation → saved model.</a:t>
            </a:r>
          </a:p>
          <a:p>
            <a:pPr>
              <a:spcAft>
                <a:spcPts val="1000"/>
              </a:spcAft>
              <a:defRPr sz="1500">
                <a:solidFill>
                  <a:srgbClr val="232D37"/>
                </a:solidFill>
                <a:latin typeface="Aptos"/>
              </a:defRPr>
            </a:pPr>
            <a:r>
              <a:t>• Prediction phase: website input → preprocessing → trained model → classification result.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Methodology /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1426464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33502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Dataset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039112" y="208483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185416" y="1828800"/>
            <a:ext cx="1426464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31136" y="2011680"/>
            <a:ext cx="133502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Clean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630168" y="208483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776472" y="1828800"/>
            <a:ext cx="1426464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22191" y="2011680"/>
            <a:ext cx="133502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Select Features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221223" y="208483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367528" y="1828800"/>
            <a:ext cx="1426464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13248" y="2011680"/>
            <a:ext cx="133502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Split 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812279" y="208483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58584" y="1828800"/>
            <a:ext cx="1426464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04304" y="2011680"/>
            <a:ext cx="133502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Train Models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403336" y="208483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549640" y="1828800"/>
            <a:ext cx="1426464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95360" y="2011680"/>
            <a:ext cx="133502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Evaluate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94392" y="2084832"/>
            <a:ext cx="128015" cy="274320"/>
          </a:xfrm>
          <a:prstGeom prst="rightArrow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140696" y="1828800"/>
            <a:ext cx="1426464" cy="822960"/>
          </a:xfrm>
          <a:prstGeom prst="roundRect">
            <a:avLst/>
          </a:prstGeom>
          <a:solidFill>
            <a:srgbClr val="F2F7FA"/>
          </a:solidFill>
          <a:ln>
            <a:solidFill>
              <a:srgbClr val="26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86416" y="2011680"/>
            <a:ext cx="1335024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2D46"/>
                </a:solidFill>
                <a:latin typeface="Aptos"/>
              </a:defRPr>
            </a:pPr>
            <a:r>
              <a:t>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15468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1. Acquire the selected water-quality dataset.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2. Handle missing/invalid values and prepare features.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3. Split data into training and testing sets.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4. Train Logistic Regression and Decision Tree classifiers.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5. Evaluate using accuracy, precision, recall and F1-score.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6. Integrate the selected model(s) with the website.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474720" cy="12344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73152" cy="123444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399032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Frontend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HTML, CSS, JavaScript</a:t>
            </a:r>
            <a:br/>
            <a:r>
              <a:t>(or the frontend framework used in your implementation)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474720" cy="12344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234440"/>
            <a:ext cx="73152" cy="123444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44568" y="1399032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Backend / ML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Python with Flask/FastAPI (as applicable) and scikit-learn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234440"/>
            <a:ext cx="3474720" cy="12344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55279" y="1234440"/>
            <a:ext cx="73152" cy="123444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56448" y="1399032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Data &amp; Models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Pandas, NumPy, scikit-learn; trained model files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788920"/>
            <a:ext cx="3474720" cy="12344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2788920"/>
            <a:ext cx="73152" cy="1234440"/>
          </a:xfrm>
          <a:prstGeom prst="rect">
            <a:avLst/>
          </a:prstGeom>
          <a:solidFill>
            <a:srgbClr val="E19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2953512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Development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VS Code / Jupyter Notebook / Python environment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2788920"/>
            <a:ext cx="3474720" cy="12344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43400" y="2788920"/>
            <a:ext cx="73152" cy="123444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44568" y="2953512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Visualization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Matplotlib / charts for evaluation and comparison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2788920"/>
            <a:ext cx="3474720" cy="12344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955279" y="2788920"/>
            <a:ext cx="73152" cy="123444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56448" y="2953512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Deployment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Local server or cloud deployment depending on project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System Modules /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5120640" cy="9601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73152" cy="96012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307592"/>
            <a:ext cx="4754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1. User Interface</a:t>
            </a:r>
          </a:p>
          <a:p>
            <a:pPr>
              <a:spcBef>
                <a:spcPts val="7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Collects water-quality input values.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43000"/>
            <a:ext cx="5120640" cy="9601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0" y="1143000"/>
            <a:ext cx="73152" cy="96012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19088" y="1307592"/>
            <a:ext cx="4754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2. Data Preprocessing</a:t>
            </a:r>
          </a:p>
          <a:p>
            <a:pPr>
              <a:spcBef>
                <a:spcPts val="7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Cleans and transforms input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20640" cy="9601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2377440"/>
            <a:ext cx="73152" cy="96012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" y="2542032"/>
            <a:ext cx="4754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3. Logistic Regression</a:t>
            </a:r>
          </a:p>
          <a:p>
            <a:pPr>
              <a:spcBef>
                <a:spcPts val="7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Performs classification using a linear decision boundary.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377440"/>
            <a:ext cx="5120640" cy="9601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2377440"/>
            <a:ext cx="73152" cy="960120"/>
          </a:xfrm>
          <a:prstGeom prst="rect">
            <a:avLst/>
          </a:prstGeom>
          <a:solidFill>
            <a:srgbClr val="E19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9088" y="2542032"/>
            <a:ext cx="4754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4. Decision Tree</a:t>
            </a:r>
          </a:p>
          <a:p>
            <a:pPr>
              <a:spcBef>
                <a:spcPts val="7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Classifies using learned decision rules.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611880"/>
            <a:ext cx="5120640" cy="9601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3611880"/>
            <a:ext cx="73152" cy="96012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4754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5. Prediction Module</a:t>
            </a:r>
          </a:p>
          <a:p>
            <a:pPr>
              <a:spcBef>
                <a:spcPts val="7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Generates the final water-quality class.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611880"/>
            <a:ext cx="5120640" cy="9601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0" y="3611880"/>
            <a:ext cx="73152" cy="96012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3776472"/>
            <a:ext cx="4754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6. Evaluation Module</a:t>
            </a:r>
          </a:p>
          <a:p>
            <a:pPr>
              <a:spcBef>
                <a:spcPts val="7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Calculates classification metrics.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846320"/>
            <a:ext cx="5120640" cy="9601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1520" y="4846320"/>
            <a:ext cx="73152" cy="96012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" y="5010912"/>
            <a:ext cx="4754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7. Visualization / Report</a:t>
            </a:r>
          </a:p>
          <a:p>
            <a:pPr>
              <a:spcBef>
                <a:spcPts val="7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Shows predictions and model performance.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846320"/>
            <a:ext cx="5120640" cy="9601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17920" y="4846320"/>
            <a:ext cx="73152" cy="960120"/>
          </a:xfrm>
          <a:prstGeom prst="rect">
            <a:avLst/>
          </a:prstGeom>
          <a:solidFill>
            <a:srgbClr val="E19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19088" y="5010912"/>
            <a:ext cx="475487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D46"/>
                </a:solidFill>
                <a:latin typeface="Aptos"/>
              </a:defRPr>
            </a:pPr>
            <a:r>
              <a:t>8. Security / Validation</a:t>
            </a:r>
          </a:p>
          <a:p>
            <a:pPr>
              <a:spcBef>
                <a:spcPts val="7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Validates inputs and prevents invalid submissions.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Prepare the dataset and define the target water-quality class.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Implement preprocessing and model-training scripts in Python.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Train Logistic Regression and Decision Tree models using scikit-learn.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Evaluate the trained models on test data.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Save the selected model and preprocessing objects for website prediction.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Connect the website form to the prediction service and display the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25880"/>
            <a:ext cx="4663440" cy="1828800"/>
          </a:xfrm>
          <a:prstGeom prst="roundRect">
            <a:avLst/>
          </a:prstGeom>
          <a:solidFill>
            <a:srgbClr val="F8FAFB"/>
          </a:solidFill>
          <a:ln>
            <a:solidFill>
              <a:srgbClr val="B4C3C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0" y="2011680"/>
            <a:ext cx="42976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5F6973"/>
                </a:solidFill>
                <a:latin typeface="Aptos"/>
              </a:defRPr>
            </a:pPr>
            <a:r>
              <a:t>INSERT WEBSITE HOME / INPUT SCREENSHOT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3429000"/>
            <a:ext cx="4663440" cy="1828800"/>
          </a:xfrm>
          <a:prstGeom prst="roundRect">
            <a:avLst/>
          </a:prstGeom>
          <a:solidFill>
            <a:srgbClr val="F8FAFB"/>
          </a:solidFill>
          <a:ln>
            <a:solidFill>
              <a:srgbClr val="B4C3C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0" y="4114800"/>
            <a:ext cx="42976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5F6973"/>
                </a:solidFill>
                <a:latin typeface="Aptos"/>
              </a:defRPr>
            </a:pPr>
            <a:r>
              <a:t>INSERT PREDICTION / RESULT SCREENSHOT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Dataset / Input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188720"/>
            <a:ext cx="3383280" cy="132588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188720"/>
            <a:ext cx="73152" cy="132588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1353312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D46"/>
                </a:solidFill>
                <a:latin typeface="Aptos"/>
              </a:defRPr>
            </a:pPr>
            <a:r>
              <a:t>Dataset Name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Enter the exact dataset name/source used in your project.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188720"/>
            <a:ext cx="3383280" cy="132588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89120" y="1188720"/>
            <a:ext cx="73152" cy="132588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0288" y="1353312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D46"/>
                </a:solidFill>
                <a:latin typeface="Aptos"/>
              </a:defRPr>
            </a:pPr>
            <a:r>
              <a:t>Records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Enter the actual number of records after preprocessing.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88720"/>
            <a:ext cx="3383280" cy="132588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01000" y="1188720"/>
            <a:ext cx="73152" cy="132588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02168" y="1353312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D46"/>
                </a:solidFill>
                <a:latin typeface="Aptos"/>
              </a:defRPr>
            </a:pPr>
            <a:r>
              <a:t>Target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Water-quality class / potability label used by the project.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63240"/>
            <a:ext cx="10241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Typical input features may include pH, hardness, solids/TDS, chloramines, sulfate, conductivity, organic carbon, trihalomethanes and turbidity, depending on the selected dataset.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Preprocessing may include missing-value handling, feature scaling where required, duplicate/invalid record checks, and train-test splitting.</a:t>
            </a:r>
          </a:p>
          <a:p>
            <a:pPr>
              <a:spcAft>
                <a:spcPts val="1000"/>
              </a:spcAft>
              <a:defRPr sz="1600">
                <a:solidFill>
                  <a:srgbClr val="232D37"/>
                </a:solidFill>
                <a:latin typeface="Aptos"/>
              </a:defRPr>
            </a:pPr>
            <a:r>
              <a:t>• Replace the placeholders above with the exact values from your dataset before final submission.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Algorithm /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12080" cy="201168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73152" cy="201168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399032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D46"/>
                </a:solidFill>
                <a:latin typeface="Aptos"/>
              </a:defRPr>
            </a:pPr>
            <a:r>
              <a:t>Logistic Regression</a:t>
            </a:r>
          </a:p>
          <a:p>
            <a:pPr>
              <a:spcBef>
                <a:spcPts val="7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 supervised classification algorithm that estimates class probability from input features. It is simple, fast and useful as an interpretable baseline.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34440"/>
            <a:ext cx="5212080" cy="201168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0" y="1234440"/>
            <a:ext cx="73152" cy="201168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19088" y="1399032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D46"/>
                </a:solidFill>
                <a:latin typeface="Aptos"/>
              </a:defRPr>
            </a:pPr>
            <a:r>
              <a:t>Decision Tree</a:t>
            </a:r>
          </a:p>
          <a:p>
            <a:pPr>
              <a:spcBef>
                <a:spcPts val="7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 rule-based classifier that recursively splits data using feature conditions. It is easy to visualize and can capture non-linear relationships.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11880"/>
            <a:ext cx="10698480" cy="14173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3611880"/>
            <a:ext cx="73152" cy="141732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" y="3776472"/>
            <a:ext cx="1033271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D46"/>
                </a:solidFill>
                <a:latin typeface="Aptos"/>
              </a:defRPr>
            </a:pPr>
            <a:r>
              <a:t>Why Compare Both?</a:t>
            </a:r>
          </a:p>
          <a:p>
            <a:pPr>
              <a:spcBef>
                <a:spcPts val="7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The two models represent different decision-making approaches. Comparing them helps identify which model provides stronger performance on the selected water-quality dataset.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2468880" cy="109728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73152" cy="109728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307592"/>
            <a:ext cx="21031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Accuracy</a:t>
            </a:r>
          </a:p>
          <a:p>
            <a:pPr>
              <a:spcBef>
                <a:spcPts val="700"/>
              </a:spcBef>
              <a:defRPr sz="1500">
                <a:solidFill>
                  <a:srgbClr val="232D37"/>
                </a:solidFill>
                <a:latin typeface="Aptos"/>
              </a:defRPr>
            </a:pPr>
            <a:r>
              <a:t>INSERT ACTUAL 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143000"/>
            <a:ext cx="2468880" cy="109728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83280" y="1143000"/>
            <a:ext cx="73152" cy="109728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84448" y="1307592"/>
            <a:ext cx="21031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Precision</a:t>
            </a:r>
          </a:p>
          <a:p>
            <a:pPr>
              <a:spcBef>
                <a:spcPts val="700"/>
              </a:spcBef>
              <a:defRPr sz="1500">
                <a:solidFill>
                  <a:srgbClr val="232D37"/>
                </a:solidFill>
                <a:latin typeface="Aptos"/>
              </a:defRPr>
            </a:pPr>
            <a:r>
              <a:t>INSERT ACTUAL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143000"/>
            <a:ext cx="2468880" cy="109728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35040" y="1143000"/>
            <a:ext cx="73152" cy="109728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36207" y="1307592"/>
            <a:ext cx="21031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Recall</a:t>
            </a:r>
          </a:p>
          <a:p>
            <a:pPr>
              <a:spcBef>
                <a:spcPts val="700"/>
              </a:spcBef>
              <a:defRPr sz="1500">
                <a:solidFill>
                  <a:srgbClr val="232D37"/>
                </a:solidFill>
                <a:latin typeface="Aptos"/>
              </a:defRPr>
            </a:pPr>
            <a:r>
              <a:t>INSERT ACTUAL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43000"/>
            <a:ext cx="2468880" cy="109728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686800" y="1143000"/>
            <a:ext cx="73152" cy="1097280"/>
          </a:xfrm>
          <a:prstGeom prst="rect">
            <a:avLst/>
          </a:prstGeom>
          <a:solidFill>
            <a:srgbClr val="E19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87968" y="1307592"/>
            <a:ext cx="21031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F1-Score</a:t>
            </a:r>
          </a:p>
          <a:p>
            <a:pPr>
              <a:spcBef>
                <a:spcPts val="700"/>
              </a:spcBef>
              <a:defRPr sz="1500">
                <a:solidFill>
                  <a:srgbClr val="232D37"/>
                </a:solidFill>
                <a:latin typeface="Aptos"/>
              </a:defRPr>
            </a:pPr>
            <a:r>
              <a:t>INSERT ACTUAL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606040"/>
            <a:ext cx="5212080" cy="2423160"/>
          </a:xfrm>
          <a:prstGeom prst="roundRect">
            <a:avLst/>
          </a:prstGeom>
          <a:solidFill>
            <a:srgbClr val="F8FAFB"/>
          </a:solidFill>
          <a:ln>
            <a:solidFill>
              <a:srgbClr val="B4C3C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5890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5F6973"/>
                </a:solidFill>
                <a:latin typeface="Aptos"/>
              </a:defRPr>
            </a:pPr>
            <a:r>
              <a:t>INSERT MODEL COMPARISON BAR CHART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606040"/>
            <a:ext cx="5212080" cy="2423160"/>
          </a:xfrm>
          <a:prstGeom prst="roundRect">
            <a:avLst/>
          </a:prstGeom>
          <a:solidFill>
            <a:srgbClr val="F8FAFB"/>
          </a:solidFill>
          <a:ln>
            <a:solidFill>
              <a:srgbClr val="B4C3C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35890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5F6973"/>
                </a:solidFill>
                <a:latin typeface="Aptos"/>
              </a:defRPr>
            </a:pPr>
            <a:r>
              <a:t>INSERT CONFUSION MATRIX / METRICS CHART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32D37"/>
                </a:solidFill>
                <a:latin typeface="Aptos"/>
              </a:defRPr>
            </a:pPr>
            <a:r>
              <a:t>• Report the exact test-set metrics from your trained models.</a:t>
            </a:r>
          </a:p>
          <a:p>
            <a:pPr>
              <a:spcAft>
                <a:spcPts val="1000"/>
              </a:spcAft>
              <a:defRPr sz="1300">
                <a:solidFill>
                  <a:srgbClr val="232D37"/>
                </a:solidFill>
                <a:latin typeface="Aptos"/>
              </a:defRPr>
            </a:pPr>
            <a:r>
              <a:t>• State which model performed better on your dataset and why.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Screenshots /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3520440" cy="1965960"/>
          </a:xfrm>
          <a:prstGeom prst="roundRect">
            <a:avLst/>
          </a:prstGeom>
          <a:solidFill>
            <a:srgbClr val="F8FAFB"/>
          </a:solidFill>
          <a:ln>
            <a:solidFill>
              <a:srgbClr val="B4C3C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0" y="1143000"/>
            <a:ext cx="3520440" cy="1965960"/>
          </a:xfrm>
          <a:prstGeom prst="roundRect">
            <a:avLst/>
          </a:prstGeom>
          <a:solidFill>
            <a:srgbClr val="F8FAFB"/>
          </a:solidFill>
          <a:ln>
            <a:solidFill>
              <a:srgbClr val="B4C3C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46720" y="1143000"/>
            <a:ext cx="3520440" cy="1965960"/>
          </a:xfrm>
          <a:prstGeom prst="roundRect">
            <a:avLst/>
          </a:prstGeom>
          <a:solidFill>
            <a:srgbClr val="F8FAFB"/>
          </a:solidFill>
          <a:ln>
            <a:solidFill>
              <a:srgbClr val="B4C3C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26280" y="3794760"/>
            <a:ext cx="3520440" cy="1965960"/>
          </a:xfrm>
          <a:prstGeom prst="roundRect">
            <a:avLst/>
          </a:prstGeom>
          <a:solidFill>
            <a:srgbClr val="F8FAFB"/>
          </a:solidFill>
          <a:ln>
            <a:solidFill>
              <a:srgbClr val="B4C3C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16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55" y="1229014"/>
            <a:ext cx="2978290" cy="1749745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7355" y="1307592"/>
            <a:ext cx="2945050" cy="158224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042" y="1222954"/>
            <a:ext cx="3169794" cy="1862254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1634" y="3917131"/>
            <a:ext cx="2929732" cy="172121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Advantages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Simple web-based interface for entering water-quality parameters.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Automates classification using trained machine-learning models.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Provides a consistent prediction based on learned patterns in the dataset.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Decision Tree offers understandable rule-based decisions.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Logistic Regression provides a strong, lightweight baseline for classification.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System can be extended with charts, sensor inputs, user history, and additional models.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474720" cy="14630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73152" cy="146304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39903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Water Monitoring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Quick screening support for water-quality datasets and monitoring workflows.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474720" cy="14630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234440"/>
            <a:ext cx="73152" cy="146304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44568" y="139903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Environmental Studies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Educational and research applications for studying relationships among water parameters.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234440"/>
            <a:ext cx="3474720" cy="14630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55279" y="1234440"/>
            <a:ext cx="73152" cy="146304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56448" y="139903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Community Awareness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Simple interface for understanding whether a sample falls into the trained quality categories.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3246120"/>
            <a:ext cx="3474720" cy="14630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14600" y="3246120"/>
            <a:ext cx="73152" cy="1463040"/>
          </a:xfrm>
          <a:prstGeom prst="rect">
            <a:avLst/>
          </a:prstGeom>
          <a:solidFill>
            <a:srgbClr val="E19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15768" y="341071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Industrial Support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Can support preliminary classification before detailed laboratory analysis.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246120"/>
            <a:ext cx="3474720" cy="146304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3246120"/>
            <a:ext cx="73152" cy="146304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19088" y="3410712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2D46"/>
                </a:solidFill>
                <a:latin typeface="Aptos"/>
              </a:defRPr>
            </a:pPr>
            <a:r>
              <a:t>Smart Water Systems</a:t>
            </a:r>
          </a:p>
          <a:p>
            <a:pPr>
              <a:spcBef>
                <a:spcPts val="7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Can be extended to receive data from IoT water-quality sensors.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Prediction quality depends on the quality, size, and representativeness of the training dataset.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The model cannot reliably classify conditions outside the patterns represented in training data.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Website predictions should be treated as decision-support output, not a replacement for certified laboratory testing.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Model performance may change when deployed on data from different locations or measurement instruments.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Current project scope may be limited to the available dataset and selected algorithms.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Integrate real-time IoT water-quality sensors.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Add more machine-learning models such as Random Forest, XGBoost, SVM or neural networks.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Add user accounts, prediction history, downloadable reports and dashboards.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Use larger and more geographically diverse datasets.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Deploy the website on a cloud platform for wider access.</a:t>
            </a:r>
          </a:p>
          <a:p>
            <a:pPr>
              <a:spcAft>
                <a:spcPts val="1000"/>
              </a:spcAft>
              <a:defRPr sz="1900">
                <a:solidFill>
                  <a:srgbClr val="232D37"/>
                </a:solidFill>
                <a:latin typeface="Aptos"/>
              </a:defRPr>
            </a:pPr>
            <a:r>
              <a:t>• Add explainable-AI features to show why a sample received a particular classification.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D46"/>
                </a:solidFill>
                <a:latin typeface="Aptos Display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931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269691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34440"/>
            <a:ext cx="10515600" cy="141732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73152" cy="1417320"/>
          </a:xfrm>
          <a:prstGeom prst="rect">
            <a:avLst/>
          </a:prstGeom>
          <a:solidFill>
            <a:srgbClr val="26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1399032"/>
            <a:ext cx="10149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2D46"/>
                </a:solidFill>
                <a:latin typeface="Aptos"/>
              </a:defRPr>
            </a:pPr>
            <a:r>
              <a:t>Project Outcome</a:t>
            </a:r>
          </a:p>
          <a:p>
            <a:pPr>
              <a:spcBef>
                <a:spcPts val="700"/>
              </a:spcBef>
              <a:defRPr sz="1600">
                <a:solidFill>
                  <a:srgbClr val="232D37"/>
                </a:solidFill>
                <a:latin typeface="Aptos"/>
              </a:defRPr>
            </a:pPr>
            <a:r>
              <a:t>The project demonstrates a web-based approach for classifying water quality using Logistic Regression and Decision Tree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71800"/>
            <a:ext cx="5074920" cy="150876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73152" cy="1508760"/>
          </a:xfrm>
          <a:prstGeom prst="rect">
            <a:avLst/>
          </a:prstGeom>
          <a:solidFill>
            <a:srgbClr val="237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3136392"/>
            <a:ext cx="4709159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D46"/>
                </a:solidFill>
                <a:latin typeface="Aptos"/>
              </a:defRPr>
            </a:pPr>
            <a:r>
              <a:t>Key Contribution</a:t>
            </a:r>
          </a:p>
          <a:p>
            <a:pPr>
              <a:spcBef>
                <a:spcPts val="7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Combines data preprocessing, supervised ML, model evaluation, and a user-friendly website.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971800"/>
            <a:ext cx="5074920" cy="1508760"/>
          </a:xfrm>
          <a:prstGeom prst="roundRect">
            <a:avLst/>
          </a:prstGeom>
          <a:solidFill>
            <a:srgbClr val="F2F7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2971800"/>
            <a:ext cx="73152" cy="1508760"/>
          </a:xfrm>
          <a:prstGeom prst="rect">
            <a:avLst/>
          </a:prstGeom>
          <a:solidFill>
            <a:srgbClr val="379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64807" y="3136392"/>
            <a:ext cx="4709159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D46"/>
                </a:solidFill>
                <a:latin typeface="Aptos"/>
              </a:defRPr>
            </a:pPr>
            <a:r>
              <a:t>Overall Impact</a:t>
            </a:r>
          </a:p>
          <a:p>
            <a:pPr>
              <a:spcBef>
                <a:spcPts val="7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Provides a practical academic prototype that can be extended toward real-time monitoring and larger-scale deployment.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507492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• Thank You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• Questions &amp; Discussion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3"/>
                </a:solidFill>
                <a:latin typeface="Aptos"/>
              </a:defRPr>
            </a:pPr>
            <a:r>
              <a:t>Water Quality Classification • KLH Bachupally Campus   |  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1653</Words>
  <Application>Microsoft Office PowerPoint</Application>
  <PresentationFormat>Widescreen</PresentationFormat>
  <Paragraphs>242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TheoremLogic NumericLogorithm</dc:creator>
  <cp:keywords/>
  <dc:description>generated using python-pptx</dc:description>
  <cp:lastModifiedBy>Sairohit</cp:lastModifiedBy>
  <cp:revision>4</cp:revision>
  <dcterms:created xsi:type="dcterms:W3CDTF">2013-01-27T09:14:16Z</dcterms:created>
  <dcterms:modified xsi:type="dcterms:W3CDTF">2026-10-14T04:47:39Z</dcterms:modified>
  <cp:category/>
</cp:coreProperties>
</file>